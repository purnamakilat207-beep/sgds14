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Plus Jakarta Sans"/>
      <p:bold r:id="rId20"/>
      <p:italic r:id="rId21"/>
    </p:embeddedFont>
    <p:embeddedFont>
      <p:font typeface="Space Grotesk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4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6F720-210B-41AB-B577-90DECEAE34D0}" v="137" dt="2026-10-12T21:47:15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nama kilat" userId="e6d3ff8f719c85c1" providerId="LiveId" clId="{3BA053B8-DBC9-4C87-9B93-78D081DB2A06}"/>
    <pc:docChg chg="undo custSel modSld">
      <pc:chgData name="purnama kilat" userId="e6d3ff8f719c85c1" providerId="LiveId" clId="{3BA053B8-DBC9-4C87-9B93-78D081DB2A06}" dt="2026-10-12T21:47:15.151" v="261" actId="207"/>
      <pc:docMkLst>
        <pc:docMk/>
      </pc:docMkLst>
      <pc:sldChg chg="addSp delSp modSp mod addAnim delAnim modAnim">
        <pc:chgData name="purnama kilat" userId="e6d3ff8f719c85c1" providerId="LiveId" clId="{3BA053B8-DBC9-4C87-9B93-78D081DB2A06}" dt="2026-10-12T16:38:06.357" v="258"/>
        <pc:sldMkLst>
          <pc:docMk/>
          <pc:sldMk cId="0" sldId="257"/>
        </pc:sldMkLst>
        <pc:picChg chg="add del mod modCrop">
          <ac:chgData name="purnama kilat" userId="e6d3ff8f719c85c1" providerId="LiveId" clId="{3BA053B8-DBC9-4C87-9B93-78D081DB2A06}" dt="2026-10-12T16:38:06.357" v="258"/>
          <ac:picMkLst>
            <pc:docMk/>
            <pc:sldMk cId="0" sldId="257"/>
            <ac:picMk id="7" creationId="{C6D9FAC0-B068-D915-D9BE-E42B77589FBD}"/>
          </ac:picMkLst>
        </pc:picChg>
        <pc:picChg chg="add del">
          <ac:chgData name="purnama kilat" userId="e6d3ff8f719c85c1" providerId="LiveId" clId="{3BA053B8-DBC9-4C87-9B93-78D081DB2A06}" dt="2026-10-11T19:31:31.776" v="171" actId="22"/>
          <ac:picMkLst>
            <pc:docMk/>
            <pc:sldMk cId="0" sldId="257"/>
            <ac:picMk id="9" creationId="{6D01CB9F-45AB-5FF8-C5ED-E1BBE732E8CC}"/>
          </ac:picMkLst>
        </pc:picChg>
        <pc:picChg chg="add del mod">
          <ac:chgData name="purnama kilat" userId="e6d3ff8f719c85c1" providerId="LiveId" clId="{3BA053B8-DBC9-4C87-9B93-78D081DB2A06}" dt="2026-10-11T19:46:50.688" v="244" actId="478"/>
          <ac:picMkLst>
            <pc:docMk/>
            <pc:sldMk cId="0" sldId="257"/>
            <ac:picMk id="30" creationId="{00000000-0000-0000-0000-000000000000}"/>
          </ac:picMkLst>
        </pc:picChg>
        <pc:picChg chg="mod">
          <ac:chgData name="purnama kilat" userId="e6d3ff8f719c85c1" providerId="LiveId" clId="{3BA053B8-DBC9-4C87-9B93-78D081DB2A06}" dt="2026-10-11T19:50:30.567" v="255" actId="14861"/>
          <ac:picMkLst>
            <pc:docMk/>
            <pc:sldMk cId="0" sldId="257"/>
            <ac:picMk id="31" creationId="{00000000-0000-0000-0000-000000000000}"/>
          </ac:picMkLst>
        </pc:picChg>
        <pc:picChg chg="mod">
          <ac:chgData name="purnama kilat" userId="e6d3ff8f719c85c1" providerId="LiveId" clId="{3BA053B8-DBC9-4C87-9B93-78D081DB2A06}" dt="2026-10-11T19:50:36.491" v="256" actId="14861"/>
          <ac:picMkLst>
            <pc:docMk/>
            <pc:sldMk cId="0" sldId="257"/>
            <ac:picMk id="32" creationId="{00000000-0000-0000-0000-000000000000}"/>
          </ac:picMkLst>
        </pc:picChg>
      </pc:sldChg>
      <pc:sldChg chg="modSp">
        <pc:chgData name="purnama kilat" userId="e6d3ff8f719c85c1" providerId="LiveId" clId="{3BA053B8-DBC9-4C87-9B93-78D081DB2A06}" dt="2026-10-11T17:39:28.929" v="79" actId="123"/>
        <pc:sldMkLst>
          <pc:docMk/>
          <pc:sldMk cId="0" sldId="258"/>
        </pc:sldMkLst>
        <pc:spChg chg="mod">
          <ac:chgData name="purnama kilat" userId="e6d3ff8f719c85c1" providerId="LiveId" clId="{3BA053B8-DBC9-4C87-9B93-78D081DB2A06}" dt="2026-10-11T17:39:28.929" v="79" actId="123"/>
          <ac:spMkLst>
            <pc:docMk/>
            <pc:sldMk cId="0" sldId="258"/>
            <ac:spMk id="13" creationId="{00000000-0000-0000-0000-000000000000}"/>
          </ac:spMkLst>
        </pc:spChg>
      </pc:sldChg>
      <pc:sldChg chg="modSp">
        <pc:chgData name="purnama kilat" userId="e6d3ff8f719c85c1" providerId="LiveId" clId="{3BA053B8-DBC9-4C87-9B93-78D081DB2A06}" dt="2026-10-11T18:08:18.867" v="86" actId="20577"/>
        <pc:sldMkLst>
          <pc:docMk/>
          <pc:sldMk cId="0" sldId="259"/>
        </pc:sldMkLst>
        <pc:spChg chg="mod">
          <ac:chgData name="purnama kilat" userId="e6d3ff8f719c85c1" providerId="LiveId" clId="{3BA053B8-DBC9-4C87-9B93-78D081DB2A06}" dt="2026-10-11T18:08:18.867" v="86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">
        <pc:chgData name="purnama kilat" userId="e6d3ff8f719c85c1" providerId="LiveId" clId="{3BA053B8-DBC9-4C87-9B93-78D081DB2A06}" dt="2026-10-11T14:17:02.362" v="1" actId="20577"/>
        <pc:sldMkLst>
          <pc:docMk/>
          <pc:sldMk cId="0" sldId="267"/>
        </pc:sldMkLst>
        <pc:spChg chg="mod">
          <ac:chgData name="purnama kilat" userId="e6d3ff8f719c85c1" providerId="LiveId" clId="{3BA053B8-DBC9-4C87-9B93-78D081DB2A06}" dt="2026-10-11T14:17:02.362" v="1" actId="20577"/>
          <ac:spMkLst>
            <pc:docMk/>
            <pc:sldMk cId="0" sldId="267"/>
            <ac:spMk id="22" creationId="{00000000-0000-0000-0000-000000000000}"/>
          </ac:spMkLst>
        </pc:spChg>
      </pc:sldChg>
      <pc:sldChg chg="modSp mod modAnim">
        <pc:chgData name="purnama kilat" userId="e6d3ff8f719c85c1" providerId="LiveId" clId="{3BA053B8-DBC9-4C87-9B93-78D081DB2A06}" dt="2026-10-11T19:22:25.795" v="161" actId="20577"/>
        <pc:sldMkLst>
          <pc:docMk/>
          <pc:sldMk cId="0" sldId="269"/>
        </pc:sldMkLst>
        <pc:spChg chg="mod">
          <ac:chgData name="purnama kilat" userId="e6d3ff8f719c85c1" providerId="LiveId" clId="{3BA053B8-DBC9-4C87-9B93-78D081DB2A06}" dt="2026-10-11T19:22:25.795" v="161" actId="20577"/>
          <ac:spMkLst>
            <pc:docMk/>
            <pc:sldMk cId="0" sldId="269"/>
            <ac:spMk id="116" creationId="{00000000-0000-0000-0000-000000000000}"/>
          </ac:spMkLst>
        </pc:spChg>
      </pc:sldChg>
      <pc:sldChg chg="modSp modAnim">
        <pc:chgData name="purnama kilat" userId="e6d3ff8f719c85c1" providerId="LiveId" clId="{3BA053B8-DBC9-4C87-9B93-78D081DB2A06}" dt="2026-10-11T19:24:02.798" v="167" actId="255"/>
        <pc:sldMkLst>
          <pc:docMk/>
          <pc:sldMk cId="0" sldId="270"/>
        </pc:sldMkLst>
        <pc:spChg chg="mod">
          <ac:chgData name="purnama kilat" userId="e6d3ff8f719c85c1" providerId="LiveId" clId="{3BA053B8-DBC9-4C87-9B93-78D081DB2A06}" dt="2026-10-11T19:23:30.681" v="165" actId="255"/>
          <ac:spMkLst>
            <pc:docMk/>
            <pc:sldMk cId="0" sldId="270"/>
            <ac:spMk id="42" creationId="{00000000-0000-0000-0000-000000000000}"/>
          </ac:spMkLst>
        </pc:spChg>
        <pc:spChg chg="mod">
          <ac:chgData name="purnama kilat" userId="e6d3ff8f719c85c1" providerId="LiveId" clId="{3BA053B8-DBC9-4C87-9B93-78D081DB2A06}" dt="2026-10-11T19:23:46.975" v="166" actId="255"/>
          <ac:spMkLst>
            <pc:docMk/>
            <pc:sldMk cId="0" sldId="270"/>
            <ac:spMk id="43" creationId="{00000000-0000-0000-0000-000000000000}"/>
          </ac:spMkLst>
        </pc:spChg>
        <pc:spChg chg="mod">
          <ac:chgData name="purnama kilat" userId="e6d3ff8f719c85c1" providerId="LiveId" clId="{3BA053B8-DBC9-4C87-9B93-78D081DB2A06}" dt="2026-10-11T19:24:02.798" v="167" actId="255"/>
          <ac:spMkLst>
            <pc:docMk/>
            <pc:sldMk cId="0" sldId="270"/>
            <ac:spMk id="44" creationId="{00000000-0000-0000-0000-000000000000}"/>
          </ac:spMkLst>
        </pc:spChg>
      </pc:sldChg>
      <pc:sldChg chg="modSp">
        <pc:chgData name="purnama kilat" userId="e6d3ff8f719c85c1" providerId="LiveId" clId="{3BA053B8-DBC9-4C87-9B93-78D081DB2A06}" dt="2026-10-12T21:47:15.151" v="261" actId="207"/>
        <pc:sldMkLst>
          <pc:docMk/>
          <pc:sldMk cId="0" sldId="271"/>
        </pc:sldMkLst>
        <pc:spChg chg="mod">
          <ac:chgData name="purnama kilat" userId="e6d3ff8f719c85c1" providerId="LiveId" clId="{3BA053B8-DBC9-4C87-9B93-78D081DB2A06}" dt="2026-10-11T14:18:09.354" v="53" actId="20577"/>
          <ac:spMkLst>
            <pc:docMk/>
            <pc:sldMk cId="0" sldId="271"/>
            <ac:spMk id="28" creationId="{00000000-0000-0000-0000-000000000000}"/>
          </ac:spMkLst>
        </pc:spChg>
        <pc:spChg chg="mod">
          <ac:chgData name="purnama kilat" userId="e6d3ff8f719c85c1" providerId="LiveId" clId="{3BA053B8-DBC9-4C87-9B93-78D081DB2A06}" dt="2026-10-12T21:47:15.151" v="261" actId="207"/>
          <ac:spMkLst>
            <pc:docMk/>
            <pc:sldMk cId="0" sldId="271"/>
            <ac:spMk id="11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7.jpe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16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5" Type="http://schemas.microsoft.com/office/2007/relationships/hdphoto" Target="../media/hdphoto1.wdp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9.jpe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0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1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4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5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7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8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1" name="Dekorasi Laut Cahaya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4" name="Dekorasi Laut Ubur-ubur" descr="Dekorasi laut"/>
          <p:cNvPicPr>
            <a:picLocks noSelect="1"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000" y="1200000"/>
            <a:ext cx="520000" cy="92444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4206180"/>
            <a:ext cx="85725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206180"/>
            <a:ext cx="8572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042219"/>
            <a:ext cx="166687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2487" y="2023169"/>
            <a:ext cx="10472737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SDGS 14: EKOSISTEM LAUTAN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70819"/>
            <a:ext cx="910113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Klasifikasi Tingkat Risiko Sampah Plastik di Kawasan Pesisir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58480"/>
            <a:ext cx="107156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Plus Jakarta Sans"/>
              </a:rPr>
              <a:t>Penerapan Model Random Forest &amp; 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44305"/>
            <a:ext cx="13144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Plus Jakarta Sans"/>
              </a:rPr>
              <a:t>DISUSUN OLEH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34805"/>
            <a:ext cx="13144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Kelompok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9300" y="4444305"/>
            <a:ext cx="2595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Plus Jakarta Sans"/>
              </a:rPr>
              <a:t>DOSEN PENGAMPU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634805"/>
            <a:ext cx="2595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Ilham Julian Efendi, S.T., M.T.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36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38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40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42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44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6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8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0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2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4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5 L 0 0 E" pathEditMode="relative">
                                      <p:cBhvr>
                                        <p:cTn id="56" dur="700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568773"/>
            <a:ext cx="3505200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568773"/>
            <a:ext cx="3505200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68773"/>
            <a:ext cx="3505200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76250"/>
            <a:ext cx="185737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1537" y="457200"/>
            <a:ext cx="11320462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TIM PENYUSUN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Anggota Kelompok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200" y="4380000"/>
            <a:ext cx="320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Purnama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200" y="4720000"/>
            <a:ext cx="3200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284C7"/>
                </a:solidFill>
                <a:latin typeface="Plus Jakarta Sans"/>
              </a:rPr>
              <a:t>NIM. F1G125071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6000" y="4380000"/>
            <a:ext cx="320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Rismawati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000" y="4720000"/>
            <a:ext cx="3200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284C7"/>
                </a:solidFill>
                <a:latin typeface="Plus Jakarta Sans"/>
              </a:rPr>
              <a:t>NIM. F1G125076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800" y="4380000"/>
            <a:ext cx="320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Padia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800" y="4720000"/>
            <a:ext cx="3200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284C7"/>
                </a:solidFill>
                <a:latin typeface="Plus Jakarta Sans"/>
              </a:rPr>
              <a:t>NIM. F1G125070</a:t>
            </a:r>
          </a:p>
        </p:txBody>
      </p:sp>
      <p:pic>
        <p:nvPicPr>
          <p:cNvPr id="31" name="Foto Rismawati" descr="Foto Rismawat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6000" y="2740000"/>
            <a:ext cx="1500000" cy="1500000"/>
          </a:xfrm>
          <a:prstGeom prst="ellipse">
            <a:avLst/>
          </a:prstGeom>
          <a:ln w="38100">
            <a:solidFill>
              <a:srgbClr val="0284C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Foto Padia" descr="Foto Padia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9800" y="2740000"/>
            <a:ext cx="1500000" cy="1500000"/>
          </a:xfrm>
          <a:prstGeom prst="ellipse">
            <a:avLst/>
          </a:prstGeom>
          <a:ln w="38100">
            <a:solidFill>
              <a:srgbClr val="0284C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D9FAC0-B068-D915-D9BE-E42B77589FB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l="596" t="32141" r="1222" b="20065"/>
          <a:stretch>
            <a:fillRect/>
          </a:stretch>
        </p:blipFill>
        <p:spPr>
          <a:xfrm>
            <a:off x="1612200" y="2736605"/>
            <a:ext cx="1501200" cy="1582167"/>
          </a:xfrm>
          <a:prstGeom prst="flowChartConnector">
            <a:avLst/>
          </a:prstGeom>
          <a:ln w="38100" cap="sq">
            <a:solidFill>
              <a:srgbClr val="0284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48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50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52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54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56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8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0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2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4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6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1880507"/>
            <a:ext cx="6400800" cy="3037370"/>
          </a:xfrm>
          <a:prstGeom prst="roundRect">
            <a:avLst>
              <a:gd name="adj" fmla="val 1185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3242875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Latar </a:t>
            </a: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Belakang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75753"/>
            <a:ext cx="5702301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400" dirty="0" err="1"/>
              <a:t>masalah</a:t>
            </a:r>
            <a:r>
              <a:rPr lang="en-US" sz="1400" dirty="0"/>
              <a:t> </a:t>
            </a:r>
            <a:r>
              <a:rPr lang="en-US" sz="1400" dirty="0" err="1"/>
              <a:t>sampah</a:t>
            </a:r>
            <a:r>
              <a:rPr lang="en-US" sz="1400" dirty="0"/>
              <a:t> </a:t>
            </a:r>
            <a:r>
              <a:rPr lang="en-US" sz="1400" dirty="0" err="1"/>
              <a:t>laut</a:t>
            </a:r>
            <a:r>
              <a:rPr lang="en-US" sz="1400" dirty="0"/>
              <a:t> yang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mengganggu</a:t>
            </a:r>
            <a:r>
              <a:rPr lang="en-US" sz="1400" dirty="0"/>
              <a:t> </a:t>
            </a:r>
            <a:r>
              <a:rPr lang="en-US" sz="1400" dirty="0" err="1"/>
              <a:t>ekosistem</a:t>
            </a:r>
            <a:r>
              <a:rPr lang="en-US" sz="1400" dirty="0"/>
              <a:t> dan </a:t>
            </a:r>
            <a:r>
              <a:rPr lang="en-US" sz="1400" dirty="0" err="1"/>
              <a:t>membahayakan</a:t>
            </a:r>
            <a:r>
              <a:rPr lang="en-US" sz="1400" dirty="0"/>
              <a:t> </a:t>
            </a:r>
            <a:r>
              <a:rPr lang="en-US" sz="1400" dirty="0" err="1"/>
              <a:t>kehidupan</a:t>
            </a:r>
            <a:r>
              <a:rPr lang="en-US" sz="1400" dirty="0"/>
              <a:t> biota </a:t>
            </a:r>
            <a:r>
              <a:rPr lang="en-US" sz="1400" dirty="0" err="1"/>
              <a:t>laut</a:t>
            </a:r>
            <a:r>
              <a:rPr lang="en-US" sz="1400" dirty="0"/>
              <a:t>.</a:t>
            </a:r>
            <a:endParaRPr lang="id-ID" sz="1400" dirty="0"/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Oleh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, kami </a:t>
            </a:r>
            <a:r>
              <a:rPr lang="en-US" sz="1400" dirty="0" err="1"/>
              <a:t>mencoba</a:t>
            </a:r>
            <a:r>
              <a:rPr lang="en-US" sz="1400" dirty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Machine Learning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mengelompokkan</a:t>
            </a:r>
            <a:r>
              <a:rPr lang="en-US" sz="1400" dirty="0"/>
              <a:t> </a:t>
            </a:r>
            <a:r>
              <a:rPr lang="en-US" sz="1400" dirty="0" err="1"/>
              <a:t>tingkat</a:t>
            </a:r>
            <a:r>
              <a:rPr lang="en-US" sz="1400" dirty="0"/>
              <a:t> </a:t>
            </a:r>
            <a:r>
              <a:rPr lang="en-US" sz="1400" dirty="0" err="1"/>
              <a:t>risiko</a:t>
            </a:r>
            <a:r>
              <a:rPr lang="en-US" sz="1400" dirty="0"/>
              <a:t> </a:t>
            </a:r>
            <a:r>
              <a:rPr lang="en-US" sz="1400" dirty="0" err="1"/>
              <a:t>sampah</a:t>
            </a:r>
            <a:r>
              <a:rPr lang="en-US" sz="1400" dirty="0"/>
              <a:t> </a:t>
            </a:r>
            <a:r>
              <a:rPr lang="en-US" sz="1400" dirty="0" err="1"/>
              <a:t>plastik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tiga</a:t>
            </a:r>
            <a:r>
              <a:rPr lang="en-US" sz="1400" dirty="0"/>
              <a:t> </a:t>
            </a:r>
            <a:r>
              <a:rPr lang="en-US" sz="1400" dirty="0" err="1"/>
              <a:t>kategori</a:t>
            </a:r>
            <a:r>
              <a:rPr lang="en-US" sz="1400" dirty="0"/>
              <a:t>, </a:t>
            </a:r>
            <a:r>
              <a:rPr lang="en-US" sz="1400" dirty="0" err="1"/>
              <a:t>yaitu</a:t>
            </a:r>
            <a:r>
              <a:rPr lang="en-US" sz="1400" dirty="0"/>
              <a:t> Low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rendah</a:t>
            </a:r>
            <a:r>
              <a:rPr lang="en-US" sz="1400" dirty="0"/>
              <a:t>, Medium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sedang</a:t>
            </a:r>
            <a:r>
              <a:rPr lang="en-US" sz="1400" dirty="0"/>
              <a:t>, dan High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.</a:t>
            </a:r>
            <a:endParaRPr lang="id-ID" sz="1400" dirty="0"/>
          </a:p>
          <a:p>
            <a:pPr algn="just"/>
            <a:endParaRPr lang="en-US" sz="1400" dirty="0"/>
          </a:p>
          <a:p>
            <a:pPr algn="just"/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proyek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, kami </a:t>
            </a:r>
            <a:r>
              <a:rPr lang="en-US" sz="1400" dirty="0" err="1"/>
              <a:t>menggunakan</a:t>
            </a:r>
            <a:r>
              <a:rPr lang="en-US" sz="1400" dirty="0"/>
              <a:t> dua </a:t>
            </a:r>
            <a:r>
              <a:rPr lang="en-US" sz="1400" dirty="0" err="1"/>
              <a:t>metode</a:t>
            </a:r>
            <a:r>
              <a:rPr lang="id-ID" sz="1400" dirty="0"/>
              <a:t> algoritma</a:t>
            </a:r>
            <a:r>
              <a:rPr lang="en-US" sz="1400" dirty="0"/>
              <a:t>, </a:t>
            </a:r>
            <a:r>
              <a:rPr lang="en-US" sz="1400" dirty="0" err="1"/>
              <a:t>yaitu</a:t>
            </a:r>
            <a:r>
              <a:rPr lang="en-US" sz="1400" dirty="0"/>
              <a:t> Random Forest dan Logistic Regression. </a:t>
            </a:r>
            <a:r>
              <a:rPr lang="en-US" sz="1400" dirty="0" err="1"/>
              <a:t>Kedua</a:t>
            </a:r>
            <a:r>
              <a:rPr lang="en-US" sz="1400" dirty="0"/>
              <a:t> </a:t>
            </a:r>
            <a:r>
              <a:rPr lang="en-US" sz="1400" dirty="0" err="1"/>
              <a:t>metode</a:t>
            </a:r>
            <a:r>
              <a:rPr lang="id-ID" sz="1400" dirty="0"/>
              <a:t> algoritma</a:t>
            </a:r>
            <a:r>
              <a:rPr lang="en-US" sz="1400" dirty="0"/>
              <a:t>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dirty="0" err="1"/>
              <a:t>dibandingkan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melihat</a:t>
            </a:r>
            <a:r>
              <a:rPr lang="en-US" sz="1400" dirty="0"/>
              <a:t> </a:t>
            </a:r>
            <a:r>
              <a:rPr lang="en-US" sz="1400" dirty="0" err="1"/>
              <a:t>metode</a:t>
            </a:r>
            <a:r>
              <a:rPr lang="en-US" sz="1400" dirty="0"/>
              <a:t> mana yang </a:t>
            </a:r>
            <a:r>
              <a:rPr lang="en-US" sz="1400" dirty="0" err="1"/>
              <a:t>memberikan</a:t>
            </a:r>
            <a:r>
              <a:rPr lang="en-US" sz="1400" dirty="0"/>
              <a:t> </a:t>
            </a:r>
            <a:r>
              <a:rPr lang="en-US" sz="1400" dirty="0" err="1"/>
              <a:t>hasil</a:t>
            </a:r>
            <a:r>
              <a:rPr lang="en-US" sz="1400" dirty="0"/>
              <a:t> </a:t>
            </a:r>
            <a:r>
              <a:rPr lang="en-US" sz="1400" dirty="0" err="1"/>
              <a:t>klasifikasi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baik</a:t>
            </a:r>
            <a:r>
              <a:rPr lang="id-ID" sz="1400" dirty="0"/>
              <a:t>.</a:t>
            </a:r>
            <a:endParaRPr lang="en-US" sz="1400" dirty="0"/>
          </a:p>
          <a:p>
            <a:pPr algn="just"/>
            <a:endParaRPr lang="en-ID" sz="1400" dirty="0"/>
          </a:p>
        </p:txBody>
      </p:sp>
      <p:pic>
        <p:nvPicPr>
          <p:cNvPr id="18" name="Picture 17" descr="88 ribu Ilustrasi, Foto Stok, dan Gambar Ocean trash Tanpa ...">
            <a:extLst>
              <a:ext uri="{FF2B5EF4-FFF2-40B4-BE49-F238E27FC236}">
                <a16:creationId xmlns:a16="http://schemas.microsoft.com/office/drawing/2014/main" id="{15ED70C1-EBD8-EA6E-DAE9-B762879C912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1276" b="12907"/>
          <a:stretch>
            <a:fillRect/>
          </a:stretch>
        </p:blipFill>
        <p:spPr>
          <a:xfrm>
            <a:off x="7759699" y="2134642"/>
            <a:ext cx="4089401" cy="220329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18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20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22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24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26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28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0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2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4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6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654498"/>
            <a:ext cx="3505200" cy="2390775"/>
          </a:xfrm>
          <a:prstGeom prst="roundRect">
            <a:avLst>
              <a:gd name="adj" fmla="val 63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54498"/>
            <a:ext cx="3505200" cy="2390775"/>
          </a:xfrm>
          <a:prstGeom prst="roundRect">
            <a:avLst>
              <a:gd name="adj" fmla="val 63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54498"/>
            <a:ext cx="3505200" cy="2390775"/>
          </a:xfrm>
          <a:prstGeom prst="roundRect">
            <a:avLst>
              <a:gd name="adj" fmla="val 63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00692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300692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300692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3922549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Rumusan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Masalah</a:t>
            </a:r>
            <a:endParaRPr sz="40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2950" y="3006923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54623"/>
            <a:ext cx="268220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 err="1">
                <a:solidFill>
                  <a:srgbClr val="0F172A"/>
                </a:solidFill>
                <a:latin typeface="Plus Jakarta Sans"/>
              </a:rPr>
              <a:t>M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enentukan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Tingkat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Pencemaran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5825" y="400704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Bagaimana cara menentukan tingkat pencemaran sampah laut berdasarkan indikator data yang tersedia?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750" y="3006923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54623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Pengelompokan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Kategori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9625" y="400704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Bagaimana skema pengelompokan tingkat pencemaran menjadi tingkatan rendah, sedang, dan tinggi?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0550" y="3006923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654623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Implementasi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400704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Bagaimana algoritma Random Forest dapat mengklasifikasikan risiko pencemaran secara akurat?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54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56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58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60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62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4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6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8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70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72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3006923"/>
            <a:ext cx="10972800" cy="28956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97248"/>
            <a:ext cx="5372100" cy="981075"/>
          </a:xfrm>
          <a:prstGeom prst="roundRect">
            <a:avLst>
              <a:gd name="adj" fmla="val 155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797248"/>
            <a:ext cx="5372100" cy="981075"/>
          </a:xfrm>
          <a:prstGeom prst="roundRect">
            <a:avLst>
              <a:gd name="adj" fmla="val 155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5143972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Dataset yang </a:t>
            </a: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Digunakan</a:t>
            </a:r>
            <a:endParaRPr sz="40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625" y="3206948"/>
            <a:ext cx="11382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5 BARIS PERTAMA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2073473"/>
            <a:ext cx="6024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NAMA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283023"/>
            <a:ext cx="63257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Global Plastic Waste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2073473"/>
            <a:ext cx="5705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SUMBER &amp; UKURAN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2283023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Kaggle (165 Baris × 6 Kolom)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94107D2-A502-E443-8728-46BC9BE0E30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5000" t="40513" r="19791" b="38148"/>
          <a:stretch>
            <a:fillRect/>
          </a:stretch>
        </p:blipFill>
        <p:spPr>
          <a:xfrm>
            <a:off x="885824" y="3479603"/>
            <a:ext cx="10417175" cy="2264939"/>
          </a:xfrm>
          <a:prstGeom prst="rect">
            <a:avLst/>
          </a:prstGeo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36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38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40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42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44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6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8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0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2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4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5934075" y="2444948"/>
            <a:ext cx="5648325" cy="2809875"/>
          </a:xfrm>
          <a:prstGeom prst="roundRect">
            <a:avLst>
              <a:gd name="adj" fmla="val 54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68710"/>
            <a:ext cx="5019675" cy="1085850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06960"/>
            <a:ext cx="5019675" cy="1085850"/>
          </a:xfrm>
          <a:prstGeom prst="roundRect">
            <a:avLst>
              <a:gd name="adj" fmla="val 14035"/>
            </a:avLst>
          </a:prstGeom>
          <a:solidFill>
            <a:srgbClr val="FFF1F2"/>
          </a:solidFill>
          <a:ln w="9525">
            <a:solidFill>
              <a:srgbClr val="FDA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45210"/>
            <a:ext cx="5019675" cy="1085850"/>
          </a:xfrm>
          <a:prstGeom prst="roundRect">
            <a:avLst>
              <a:gd name="adj" fmla="val 1403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99212" y="3606998"/>
            <a:ext cx="571500" cy="95250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2338" y="3987998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45464" y="3225998"/>
            <a:ext cx="571500" cy="133350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6500819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Data Cleaning &amp; </a:t>
            </a:r>
            <a:r>
              <a:rPr lang="en-US" sz="4000" b="1" i="0" u="none" dirty="0">
                <a:solidFill>
                  <a:srgbClr val="0F172A"/>
                </a:solidFill>
                <a:latin typeface="Plus Jakarta Sans"/>
              </a:rPr>
              <a:t>Preprocessing</a:t>
            </a:r>
            <a:endParaRPr sz="40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72707" y="2759273"/>
            <a:ext cx="657105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Distribusi Target Risiko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344935"/>
            <a:ext cx="11811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>
                <a:solidFill>
                  <a:srgbClr val="0284C7"/>
                </a:solidFill>
                <a:latin typeface="Space Grotesk"/>
              </a:rPr>
              <a:t>165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1675" y="2549723"/>
            <a:ext cx="3298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Total data awal sebelum dibersihkan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583185"/>
            <a:ext cx="8572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>
                <a:solidFill>
                  <a:srgbClr val="E11D48"/>
                </a:solidFill>
                <a:latin typeface="Space Grotesk"/>
              </a:rPr>
              <a:t>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7825" y="3787973"/>
            <a:ext cx="4155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F1239"/>
                </a:solidFill>
                <a:latin typeface="Plus Jakarta Sans"/>
              </a:rPr>
              <a:t>Kategori 'Very High' dihapus untuk konsistensi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821435"/>
            <a:ext cx="1095375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>
                <a:solidFill>
                  <a:srgbClr val="16A34A"/>
                </a:solidFill>
                <a:latin typeface="Space Grotesk"/>
              </a:rPr>
              <a:t>161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950" y="5026223"/>
            <a:ext cx="3881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4532D"/>
                </a:solidFill>
                <a:latin typeface="Plus Jakarta Sans"/>
              </a:rPr>
              <a:t>Data bersih siap digunakan untuk klasifikasi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2550" y="3311723"/>
            <a:ext cx="5048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6A34A"/>
                </a:solidFill>
                <a:latin typeface="Plus Jakarta Sans"/>
              </a:rPr>
              <a:t>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975" y="4635698"/>
            <a:ext cx="561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0438" y="3692723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97706"/>
                </a:solidFill>
                <a:latin typeface="Plus Jakarta Sans"/>
              </a:rPr>
              <a:t>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8038" y="4635698"/>
            <a:ext cx="800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8326" y="2930723"/>
            <a:ext cx="485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C2626"/>
                </a:solidFill>
                <a:latin typeface="Plus Jakarta Sans"/>
              </a:rPr>
              <a:t>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5464" y="4635698"/>
            <a:ext cx="571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High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69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71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73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75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77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79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81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83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85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87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235398"/>
            <a:ext cx="3710731" cy="3228975"/>
          </a:xfrm>
          <a:prstGeom prst="roundRect">
            <a:avLst>
              <a:gd name="adj" fmla="val 47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48931" y="2792610"/>
            <a:ext cx="3710731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88263" y="2564010"/>
            <a:ext cx="3094285" cy="2571750"/>
          </a:xfrm>
          <a:prstGeom prst="roundRect">
            <a:avLst>
              <a:gd name="adj" fmla="val 5925"/>
            </a:avLst>
          </a:prstGeom>
          <a:solidFill>
            <a:srgbClr val="0284C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63256" y="3535560"/>
            <a:ext cx="3082081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3925" y="2978348"/>
            <a:ext cx="3082081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3925" y="3740348"/>
            <a:ext cx="3082081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23925" y="4502348"/>
            <a:ext cx="3082081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02588" y="3306960"/>
            <a:ext cx="2465635" cy="428625"/>
          </a:xfrm>
          <a:prstGeom prst="roundRect">
            <a:avLst>
              <a:gd name="adj" fmla="val 17777"/>
            </a:avLst>
          </a:prstGeom>
          <a:solidFill>
            <a:srgbClr val="28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02588" y="3849885"/>
            <a:ext cx="2465635" cy="428625"/>
          </a:xfrm>
          <a:prstGeom prst="roundRect">
            <a:avLst>
              <a:gd name="adj" fmla="val 17777"/>
            </a:avLst>
          </a:prstGeom>
          <a:solidFill>
            <a:srgbClr val="28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02588" y="4392810"/>
            <a:ext cx="2465635" cy="428625"/>
          </a:xfrm>
          <a:prstGeom prst="roundRect">
            <a:avLst>
              <a:gd name="adj" fmla="val 17777"/>
            </a:avLst>
          </a:prstGeom>
          <a:solidFill>
            <a:srgbClr val="28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3925" y="3616523"/>
            <a:ext cx="308208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3925" y="4378523"/>
            <a:ext cx="308208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925" y="5140523"/>
            <a:ext cx="308208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" y="2554485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63256" y="3111698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2588" y="2883098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704850"/>
            <a:ext cx="6315062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Menentukan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 Fitur dan Target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2549723"/>
            <a:ext cx="161270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Fitur Numerik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325" y="3092648"/>
            <a:ext cx="28725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Total_Plastic_Waste_MT: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Total volume sampah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325" y="3854648"/>
            <a:ext cx="28725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Recycling_Rate: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Tingkat daur ulang (%)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" y="4616648"/>
            <a:ext cx="28725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Per_Capita_Waste_KG: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Sampah per kapita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6156" y="3106935"/>
            <a:ext cx="108318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293B"/>
                </a:solidFill>
                <a:latin typeface="Plus Jakarta Sans"/>
              </a:rPr>
              <a:t>Fitur </a:t>
            </a:r>
            <a:r>
              <a:rPr sz="1500" b="1" i="0" u="none" dirty="0" err="1">
                <a:solidFill>
                  <a:srgbClr val="1E293B"/>
                </a:solidFill>
                <a:latin typeface="Plus Jakarta Sans"/>
              </a:rPr>
              <a:t>Kategori</a:t>
            </a:r>
            <a:endParaRPr sz="1500" b="1" i="0" u="none" dirty="0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63281" y="3735585"/>
            <a:ext cx="33525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Main_Sources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3281" y="4030860"/>
            <a:ext cx="277728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Sumber utama penghasil limbah (Consumer Packaging, Industrial, dll).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5488" y="2878335"/>
            <a:ext cx="203775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Target Klasifikasi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6888" y="3421260"/>
            <a:ext cx="2332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Low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6888" y="3964185"/>
            <a:ext cx="2332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Medium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6888" y="4507110"/>
            <a:ext cx="2332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High Risk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90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92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94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96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98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0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2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4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6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8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749748"/>
            <a:ext cx="5334000" cy="2200275"/>
          </a:xfrm>
          <a:prstGeom prst="roundRect">
            <a:avLst>
              <a:gd name="adj" fmla="val 69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49748"/>
            <a:ext cx="5334000" cy="2200275"/>
          </a:xfrm>
          <a:prstGeom prst="roundRect">
            <a:avLst>
              <a:gd name="adj" fmla="val 69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940498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749748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749748"/>
            <a:ext cx="57150" cy="2200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34075" y="2749748"/>
            <a:ext cx="9525" cy="2200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4940498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2749748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8400" y="2749748"/>
            <a:ext cx="57150" cy="22002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875" y="2749748"/>
            <a:ext cx="9525" cy="2200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50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62225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52900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10350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01025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91700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600" y="704850"/>
            <a:ext cx="8752781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Data Training (80%) vs Data Testing (20%)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3597473"/>
            <a:ext cx="5822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Digunakan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untuk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melatih</a:t>
            </a:r>
            <a:r>
              <a:rPr lang="en-ID"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lang="en-ID" sz="1125" b="0" i="0" u="none" dirty="0" err="1">
                <a:solidFill>
                  <a:srgbClr val="64748B"/>
                </a:solidFill>
                <a:latin typeface="Plus Jakarta Sans"/>
              </a:rPr>
              <a:t>pola</a:t>
            </a:r>
            <a:r>
              <a:rPr lang="en-ID"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pada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0350" y="3597473"/>
            <a:ext cx="55816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Digunakan untuk menguji akurasi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3121223"/>
            <a:ext cx="173771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Data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3975" y="3064073"/>
            <a:ext cx="78105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Space Grotesk"/>
              </a:rPr>
              <a:t>128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303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1978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2653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3121223"/>
            <a:ext cx="163770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Data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06125" y="3064073"/>
            <a:ext cx="6477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D9488"/>
                </a:solidFill>
                <a:latin typeface="Space Grotesk"/>
              </a:rPr>
              <a:t>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0103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0778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1453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784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C2626"/>
                </a:solidFill>
                <a:latin typeface="Plus Jakarta Sans"/>
              </a:rPr>
              <a:t>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459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6A34A"/>
                </a:solidFill>
                <a:latin typeface="Plus Jakarta Sans"/>
              </a:rPr>
              <a:t>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3134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97706"/>
                </a:solidFill>
                <a:latin typeface="Plus Jakarta Sans"/>
              </a:rPr>
              <a:t>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0584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C2626"/>
                </a:solidFill>
                <a:latin typeface="Plus Jakarta Sans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1259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6A34A"/>
                </a:solidFill>
                <a:latin typeface="Plus Jakarta Sans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1934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97706"/>
                </a:solidFill>
                <a:latin typeface="Plus Jakarta Sans"/>
              </a:rPr>
              <a:t>7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111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113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115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117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119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21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23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25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27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29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04850"/>
            <a:ext cx="4078681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Preprocessing Data</a:t>
            </a:r>
          </a:p>
        </p:txBody>
      </p:sp>
      <p:sp>
        <p:nvSpPr>
          <p:cNvPr id="101" name="Card 101"/>
          <p:cNvSpPr/>
          <p:nvPr/>
        </p:nvSpPr>
        <p:spPr>
          <a:xfrm>
            <a:off x="609600" y="1700000"/>
            <a:ext cx="3505200" cy="2700000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 lang="id-ID"/>
          </a:p>
        </p:txBody>
      </p:sp>
      <p:sp>
        <p:nvSpPr>
          <p:cNvPr id="102" name="Badge 102"/>
          <p:cNvSpPr/>
          <p:nvPr/>
        </p:nvSpPr>
        <p:spPr>
          <a:xfrm>
            <a:off x="838200" y="192860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id-ID" sz="1400" b="1" i="0" u="none" dirty="0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838200" y="2480000"/>
            <a:ext cx="3048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600" b="1" i="0" u="none" dirty="0">
                <a:solidFill>
                  <a:srgbClr val="0F172A"/>
                </a:solidFill>
                <a:latin typeface="Plus Jakarta Sans"/>
              </a:rPr>
              <a:t>Encoding Fitur Kategori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838200" y="2850000"/>
            <a:ext cx="3048000" cy="1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Main_Sources diubah menjadi kolom biner dengan OneHotEncoder (handle_unknown="ignore").</a:t>
            </a:r>
          </a:p>
        </p:txBody>
      </p:sp>
      <p:sp>
        <p:nvSpPr>
          <p:cNvPr id="105" name="Card 105"/>
          <p:cNvSpPr/>
          <p:nvPr/>
        </p:nvSpPr>
        <p:spPr>
          <a:xfrm>
            <a:off x="4343400" y="1700000"/>
            <a:ext cx="3505200" cy="2700000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 lang="id-ID"/>
          </a:p>
        </p:txBody>
      </p:sp>
      <p:sp>
        <p:nvSpPr>
          <p:cNvPr id="106" name="Badge 106"/>
          <p:cNvSpPr/>
          <p:nvPr/>
        </p:nvSpPr>
        <p:spPr>
          <a:xfrm>
            <a:off x="4572000" y="192860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id-ID" sz="1400" b="1" i="0" u="none" dirty="0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4572000" y="2480000"/>
            <a:ext cx="3048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600" b="1" i="0" u="none" dirty="0">
                <a:solidFill>
                  <a:srgbClr val="0F172A"/>
                </a:solidFill>
                <a:latin typeface="Plus Jakarta Sans"/>
              </a:rPr>
              <a:t>Fitur Numerik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72000" y="2850000"/>
            <a:ext cx="3048000" cy="1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Total_Plastic_Waste_MT, Recycling_Rate, dan Per_Capita_Waste_KG diteruskan apa adanya (remainder="passthrough").</a:t>
            </a:r>
          </a:p>
        </p:txBody>
      </p:sp>
      <p:sp>
        <p:nvSpPr>
          <p:cNvPr id="109" name="Card 109"/>
          <p:cNvSpPr/>
          <p:nvPr/>
        </p:nvSpPr>
        <p:spPr>
          <a:xfrm>
            <a:off x="8077200" y="1700000"/>
            <a:ext cx="3505200" cy="2700000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 lang="id-ID"/>
          </a:p>
        </p:txBody>
      </p:sp>
      <p:sp>
        <p:nvSpPr>
          <p:cNvPr id="110" name="Badge 110"/>
          <p:cNvSpPr/>
          <p:nvPr/>
        </p:nvSpPr>
        <p:spPr>
          <a:xfrm>
            <a:off x="8305800" y="192860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id-ID" sz="1400" b="1" i="0" u="none" dirty="0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8305800" y="2480000"/>
            <a:ext cx="3048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600" b="1" i="0" u="none" dirty="0">
                <a:solidFill>
                  <a:srgbClr val="0F172A"/>
                </a:solidFill>
                <a:latin typeface="Plus Jakarta Sans"/>
              </a:rPr>
              <a:t>Fit hanya di Data Training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8305800" y="2850000"/>
            <a:ext cx="3048000" cy="1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fit_transform pada X_train, lalu transform pada X_test agar data testing tidak bocor ke proses pelatihan.</a:t>
            </a:r>
          </a:p>
        </p:txBody>
      </p:sp>
      <p:sp>
        <p:nvSpPr>
          <p:cNvPr id="113" name="Card 113"/>
          <p:cNvSpPr/>
          <p:nvPr/>
        </p:nvSpPr>
        <p:spPr>
          <a:xfrm>
            <a:off x="609600" y="4628600"/>
            <a:ext cx="10972800" cy="1500000"/>
          </a:xfrm>
          <a:prstGeom prst="roundRect">
            <a:avLst>
              <a:gd name="adj" fmla="val 6324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>
            <a:endParaRPr lang="id-ID"/>
          </a:p>
        </p:txBody>
      </p:sp>
      <p:sp>
        <p:nvSpPr>
          <p:cNvPr id="114" name="Text 114"/>
          <p:cNvSpPr txBox="1"/>
          <p:nvPr/>
        </p:nvSpPr>
        <p:spPr>
          <a:xfrm>
            <a:off x="909600" y="4778600"/>
            <a:ext cx="1900000" cy="12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id-ID" sz="4800" b="1" i="0" u="none" dirty="0">
                <a:solidFill>
                  <a:srgbClr val="0284C7"/>
                </a:solidFill>
                <a:latin typeface="Plus Jakarta Sans"/>
              </a:rPr>
              <a:t>11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3009600" y="4778600"/>
            <a:ext cx="8272800" cy="12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id-ID" sz="1600" b="1" i="0" u="none" dirty="0">
                <a:solidFill>
                  <a:srgbClr val="0F172A"/>
                </a:solidFill>
                <a:latin typeface="Plus Jakarta Sans"/>
              </a:rPr>
              <a:t>Fitur setelah preprocessing</a:t>
            </a:r>
          </a:p>
          <a:p>
            <a:pPr algn="l">
              <a:spcAft>
                <a:spcPts val="0"/>
              </a:spcAft>
              <a:buNone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3 fitur numerik + 8 hasil One-Hot Encoding, digabung dengan RandomForestClassifier (n_estimators=100, random_state=42) dalam satu Pipeline.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54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56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58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60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62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4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6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8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70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72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755159" y="2659260"/>
            <a:ext cx="4827240" cy="2381250"/>
          </a:xfrm>
          <a:prstGeom prst="roundRect">
            <a:avLst>
              <a:gd name="adj" fmla="val 6400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83060"/>
            <a:ext cx="5840759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26085"/>
            <a:ext cx="5840759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76250"/>
            <a:ext cx="128587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4387" y="457200"/>
            <a:ext cx="11377612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Space Grotesk"/>
              </a:rPr>
              <a:t>MODEL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7044"/>
            <a:ext cx="4719049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Model 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8954" y="3116460"/>
            <a:ext cx="51196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Plus Jakarta Sans"/>
              </a:rPr>
              <a:t>Akurasi 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160" y="3478410"/>
            <a:ext cx="4867237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369A1"/>
                </a:solidFill>
                <a:latin typeface="Space Grotesk"/>
              </a:rPr>
              <a:t>66.67%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236" y="2839154"/>
            <a:ext cx="538355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Random Forest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digunakan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sebagai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model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utama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.</a:t>
            </a:r>
          </a:p>
          <a:p>
            <a:pPr lvl="0"/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Model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mempelajari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pola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dari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data training.</a:t>
            </a:r>
          </a:p>
          <a:p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Memprediksi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kategori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risiko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sampah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pesisir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(Low, Medium, High)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secara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akurat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dari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pola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data testing.</a:t>
            </a:r>
          </a:p>
          <a:p>
            <a:pPr lvl="0"/>
            <a:endParaRPr lang="en-ID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199" y="4432755"/>
            <a:ext cx="538355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Untuk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menghasilkan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klasifikasi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risiko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yang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akurat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dan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stabil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.</a:t>
            </a:r>
            <a:endParaRPr sz="1125" b="0" i="0" u="none" dirty="0">
              <a:solidFill>
                <a:schemeClr val="tx1">
                  <a:lumMod val="50000"/>
                  <a:lumOff val="50000"/>
                </a:schemeClr>
              </a:solidFill>
              <a:latin typeface="Plus Jakarta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AD4A5-472D-103C-8DA4-5F1A4CB4C0E0}"/>
              </a:ext>
            </a:extLst>
          </p:cNvPr>
          <p:cNvSpPr txBox="1"/>
          <p:nvPr/>
        </p:nvSpPr>
        <p:spPr>
          <a:xfrm>
            <a:off x="738187" y="4022856"/>
            <a:ext cx="6096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350" b="1" i="0" u="none" dirty="0">
                <a:solidFill>
                  <a:srgbClr val="0F172A"/>
                </a:solidFill>
                <a:latin typeface="Plus Jakarta Sans"/>
              </a:rPr>
              <a:t>Tujuan </a:t>
            </a:r>
            <a:r>
              <a:rPr lang="en-ID" sz="1350" b="1" i="0" u="none" dirty="0" err="1">
                <a:solidFill>
                  <a:srgbClr val="0F172A"/>
                </a:solidFill>
                <a:latin typeface="Plus Jakarta Sans"/>
              </a:rPr>
              <a:t>Evaluasi</a:t>
            </a:r>
            <a:endParaRPr lang="en-ID" sz="1350"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39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41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43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45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47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9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1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3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5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7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755159" y="2659260"/>
            <a:ext cx="4827240" cy="2381250"/>
          </a:xfrm>
          <a:prstGeom prst="roundRect">
            <a:avLst>
              <a:gd name="adj" fmla="val 6400"/>
            </a:avLst>
          </a:prstGeom>
          <a:solidFill>
            <a:srgbClr val="FDF2F2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83060"/>
            <a:ext cx="5840759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26085"/>
            <a:ext cx="5840759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76250"/>
            <a:ext cx="147637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3437" y="457200"/>
            <a:ext cx="11358562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MODEL PEMBANDING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5503301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Model 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8954" y="3116460"/>
            <a:ext cx="51196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C2626"/>
                </a:solidFill>
                <a:latin typeface="Plus Jakarta Sans"/>
              </a:rPr>
              <a:t>Akurasi 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160" y="3478410"/>
            <a:ext cx="4867237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DC2626"/>
                </a:solidFill>
                <a:latin typeface="Space Grotesk"/>
              </a:rPr>
              <a:t>54.55%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5160" y="4392810"/>
            <a:ext cx="48672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 dirty="0" err="1">
                <a:solidFill>
                  <a:srgbClr val="991B1B"/>
                </a:solidFill>
                <a:latin typeface="Plus Jakarta Sans"/>
              </a:rPr>
              <a:t>Akurasi</a:t>
            </a:r>
            <a:r>
              <a:rPr sz="1125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991B1B"/>
                </a:solidFill>
                <a:latin typeface="Plus Jakarta Sans"/>
              </a:rPr>
              <a:t>lebih</a:t>
            </a:r>
            <a:r>
              <a:rPr sz="1125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991B1B"/>
                </a:solidFill>
                <a:latin typeface="Plus Jakarta Sans"/>
              </a:rPr>
              <a:t>rendah</a:t>
            </a:r>
            <a:r>
              <a:rPr sz="1125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991B1B"/>
                </a:solidFill>
                <a:latin typeface="Plus Jakarta Sans"/>
              </a:rPr>
              <a:t>dibanding</a:t>
            </a:r>
            <a:r>
              <a:rPr sz="1125" b="1" i="0" u="none" dirty="0">
                <a:solidFill>
                  <a:srgbClr val="991B1B"/>
                </a:solidFill>
                <a:latin typeface="Plus Jakarta Sans"/>
              </a:rPr>
              <a:t> 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950844"/>
            <a:ext cx="538355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Logistic Regression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digunakan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sebagai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model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pembanding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lvl="0"/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Hasilnya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kemudian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dibandingkan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dengan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Random Forest.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202310"/>
            <a:ext cx="6940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Tujuan </a:t>
            </a:r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Evaluasi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5825" y="4478535"/>
            <a:ext cx="538355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Melihat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apakah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hubungan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linier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antarsebab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cukup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untuk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memprediksi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tingkat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risiko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sampah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pesisir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42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44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46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48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50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2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4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6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8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0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678310"/>
            <a:ext cx="5372100" cy="2343150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678310"/>
            <a:ext cx="5372100" cy="2343150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01193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678310"/>
            <a:ext cx="53721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300" y="501193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2678310"/>
            <a:ext cx="5372100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875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3212482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Evaluas</a:t>
            </a:r>
            <a:r>
              <a:rPr lang="en-US" sz="4000" b="1" i="0" u="none" dirty="0" err="1">
                <a:solidFill>
                  <a:srgbClr val="0F172A"/>
                </a:solidFill>
                <a:latin typeface="Plus Jakarta Sans"/>
              </a:rPr>
              <a:t>i</a:t>
            </a:r>
            <a:r>
              <a:rPr lang="en-US" sz="40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040260"/>
            <a:ext cx="622577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Plus Jakarta Sans"/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040260"/>
            <a:ext cx="56673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4748B"/>
                </a:solidFill>
                <a:latin typeface="Plus Jakarta Sans"/>
              </a:rPr>
              <a:t>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497460"/>
            <a:ext cx="971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700" y="3497460"/>
            <a:ext cx="15120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0.67 (66.67%)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954660"/>
            <a:ext cx="1559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Macro Average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7325" y="3954660"/>
            <a:ext cx="685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0.63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411860"/>
            <a:ext cx="1905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Weighted Average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7325" y="4411860"/>
            <a:ext cx="31098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0.66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3497460"/>
            <a:ext cx="971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9825" y="3497460"/>
            <a:ext cx="1547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0.55 (54.55%)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3954660"/>
            <a:ext cx="1559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Macro Average 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48975" y="3954660"/>
            <a:ext cx="7048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0.44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5" y="4411860"/>
            <a:ext cx="1905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Weighted Average 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68025" y="4411860"/>
            <a:ext cx="685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0.47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81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83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85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87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89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91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93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95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97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99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491882" y="2854523"/>
            <a:ext cx="5090517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Confusion Matrix (Random Forest)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6207" y="3521273"/>
            <a:ext cx="43528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ID" sz="1200" dirty="0"/>
              <a:t>Confusion matrix </a:t>
            </a:r>
            <a:r>
              <a:rPr lang="en-ID" sz="1200" dirty="0" err="1"/>
              <a:t>digunakan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melihat</a:t>
            </a:r>
            <a:r>
              <a:rPr lang="en-ID" sz="1200" dirty="0"/>
              <a:t> </a:t>
            </a:r>
            <a:r>
              <a:rPr lang="en-ID" sz="1200" dirty="0" err="1"/>
              <a:t>jumlah</a:t>
            </a:r>
            <a:r>
              <a:rPr lang="en-ID" sz="1200" dirty="0"/>
              <a:t> </a:t>
            </a:r>
            <a:r>
              <a:rPr lang="en-ID" sz="1200" dirty="0" err="1"/>
              <a:t>prediksi</a:t>
            </a:r>
            <a:r>
              <a:rPr lang="en-ID" sz="1200" dirty="0"/>
              <a:t> yang </a:t>
            </a:r>
            <a:r>
              <a:rPr lang="en-ID" sz="1200" dirty="0" err="1"/>
              <a:t>benar</a:t>
            </a:r>
            <a:r>
              <a:rPr lang="en-ID" sz="1200" dirty="0"/>
              <a:t> dan salah pada masing-masing </a:t>
            </a:r>
            <a:r>
              <a:rPr lang="en-ID" sz="1200" dirty="0" err="1"/>
              <a:t>kategori</a:t>
            </a:r>
            <a:r>
              <a:rPr lang="en-ID" sz="1200" dirty="0"/>
              <a:t> High, Low, dan Medium.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3C4166-76D0-6C50-E9BA-84046AA9120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3842" t="28210" r="45921" b="29442"/>
          <a:stretch>
            <a:fillRect/>
          </a:stretch>
        </p:blipFill>
        <p:spPr>
          <a:xfrm>
            <a:off x="833437" y="1918675"/>
            <a:ext cx="4614238" cy="363510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18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20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22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24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26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28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0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2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4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6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644973"/>
            <a:ext cx="6183659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Hasil 116"/>
          <p:cNvSpPr txBox="1"/>
          <p:nvPr/>
        </p:nvSpPr>
        <p:spPr>
          <a:xfrm>
            <a:off x="809625" y="2810000"/>
            <a:ext cx="5783609" cy="2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id-ID" sz="1600" b="1" i="0" u="none" dirty="0">
                <a:solidFill>
                  <a:srgbClr val="0284C7"/>
                </a:solidFill>
                <a:latin typeface="Plus Jakarta Sans"/>
              </a:rPr>
              <a:t>Hasil: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Fitur paling berpengaruh: </a:t>
            </a:r>
            <a:r>
              <a:rPr lang="id-ID" sz="1400" b="1" i="0" u="none" dirty="0" err="1">
                <a:solidFill>
                  <a:srgbClr val="0F172A"/>
                </a:solidFill>
                <a:latin typeface="Plus Jakarta Sans"/>
              </a:rPr>
              <a:t>Total_Plastic_Waste_MT</a:t>
            </a:r>
            <a:r>
              <a:rPr lang="id-ID" sz="1400" b="1" i="0" u="none" dirty="0">
                <a:solidFill>
                  <a:srgbClr val="0F172A"/>
                </a:solidFill>
                <a:latin typeface="Plus Jakarta Sans"/>
              </a:rPr>
              <a:t> (0,3225)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Fitur paling kecil pengaruhnya: </a:t>
            </a:r>
            <a:r>
              <a:rPr lang="id-ID" sz="1400" b="1" i="0" u="none" dirty="0">
                <a:solidFill>
                  <a:srgbClr val="0F172A"/>
                </a:solidFill>
                <a:latin typeface="Plus Jakarta Sans"/>
              </a:rPr>
              <a:t>Main_Sources_Automotive_Packaging (0,0012)</a:t>
            </a:r>
          </a:p>
          <a:p>
            <a:pPr marL="228600" indent="-228600" algn="l">
              <a:spcAft>
                <a:spcPts val="0"/>
              </a:spcAft>
              <a:buFont typeface="Arial"/>
              <a:buChar char="•"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Tiga fitur teratas (Total_Plastic_Waste_MT, Recycling_Rate, Per_Capita_Waste_KG) menyumbang sekitar </a:t>
            </a:r>
            <a:r>
              <a:rPr lang="id-ID" sz="1400" b="1" i="0" u="none" dirty="0">
                <a:solidFill>
                  <a:srgbClr val="0F172A"/>
                </a:solidFill>
                <a:latin typeface="Plus Jakarta Sans"/>
              </a:rPr>
              <a:t>89%</a:t>
            </a: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 kontribusi.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4200894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Feature Importance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3B2AC6-430E-704A-B271-FDE1ADFE877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0729" t="36481" r="22500" b="20556"/>
          <a:stretch>
            <a:fillRect/>
          </a:stretch>
        </p:blipFill>
        <p:spPr>
          <a:xfrm>
            <a:off x="7442200" y="1871249"/>
            <a:ext cx="4267200" cy="385210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18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20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22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24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26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28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0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2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4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6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1896177" y="1426965"/>
            <a:ext cx="8129440" cy="4232689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8934754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Grafik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 Feature Importance Random Forest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A7B8174-5BC4-A547-7AE9-45F0EAEA87D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9730" t="27672" r="22210" b="29613"/>
          <a:stretch>
            <a:fillRect/>
          </a:stretch>
        </p:blipFill>
        <p:spPr>
          <a:xfrm>
            <a:off x="2293672" y="1764317"/>
            <a:ext cx="7334450" cy="3666718"/>
          </a:xfrm>
          <a:prstGeom prst="rect">
            <a:avLst/>
          </a:prstGeom>
        </p:spPr>
      </p:pic>
      <p:sp>
        <p:nvSpPr>
          <p:cNvPr id="41" name="Keterangan Kiri 2"/>
          <p:cNvSpPr/>
          <p:nvPr/>
        </p:nvSpPr>
        <p:spPr>
          <a:xfrm>
            <a:off x="300000" y="3476965"/>
            <a:ext cx="1480000" cy="2182689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76200" tIns="45720" rIns="76200" bIns="45720" rtlCol="0" anchor="ctr"/>
          <a:lstStyle/>
          <a:p>
            <a:pPr algn="l">
              <a:spcBef>
                <a:spcPts val="0"/>
              </a:spcBef>
            </a:pPr>
            <a:r>
              <a:rPr lang="id-ID" sz="900" b="1" i="0" u="none">
                <a:solidFill>
                  <a:srgbClr val="0284C7"/>
                </a:solidFill>
                <a:latin typeface="Plus Jakarta Sans"/>
              </a:rPr>
              <a:t>TIGA TERATAS</a:t>
            </a:r>
          </a:p>
          <a:p>
            <a:pPr algn="l">
              <a:spcBef>
                <a:spcPts val="200"/>
              </a:spcBef>
            </a:pPr>
            <a:r>
              <a:rPr lang="id-ID" sz="2400" b="1" i="0" u="none">
                <a:solidFill>
                  <a:srgbClr val="0284C7"/>
                </a:solidFill>
                <a:latin typeface="Plus Jakarta Sans"/>
              </a:rPr>
              <a:t>≈ 89%</a:t>
            </a:r>
          </a:p>
          <a:p>
            <a:pPr algn="l">
              <a:spcBef>
                <a:spcPts val="200"/>
              </a:spcBef>
            </a:pPr>
            <a:r>
              <a:rPr lang="id-ID" sz="900" b="0" i="0" u="none">
                <a:solidFill>
                  <a:srgbClr val="64748B"/>
                </a:solidFill>
                <a:latin typeface="Plus Jakarta Sans"/>
              </a:rPr>
              <a:t>dari total kontribusi fitur</a:t>
            </a:r>
          </a:p>
        </p:txBody>
      </p:sp>
      <p:sp>
        <p:nvSpPr>
          <p:cNvPr id="42" name="Keterangan Kanan 1"/>
          <p:cNvSpPr/>
          <p:nvPr/>
        </p:nvSpPr>
        <p:spPr>
          <a:xfrm>
            <a:off x="10100000" y="1426965"/>
            <a:ext cx="1800000" cy="1317563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 w="12700">
            <a:solidFill>
              <a:srgbClr val="7DD3FC"/>
            </a:solidFill>
          </a:ln>
        </p:spPr>
        <p:txBody>
          <a:bodyPr wrap="square" lIns="76200" tIns="45720" rIns="76200" bIns="45720" rtlCol="0" anchor="ctr"/>
          <a:lstStyle/>
          <a:p>
            <a:pPr algn="l">
              <a:spcBef>
                <a:spcPts val="0"/>
              </a:spcBef>
            </a:pPr>
            <a:r>
              <a:rPr lang="id-ID" sz="900" b="1" i="0" u="none" dirty="0">
                <a:solidFill>
                  <a:srgbClr val="0284C7"/>
                </a:solidFill>
                <a:latin typeface="Plus Jakarta Sans"/>
              </a:rPr>
              <a:t>PERINGKAT 1</a:t>
            </a:r>
          </a:p>
          <a:p>
            <a:pPr algn="l">
              <a:spcBef>
                <a:spcPts val="300"/>
              </a:spcBef>
            </a:pPr>
            <a:r>
              <a:rPr lang="id-ID" sz="850" b="1" i="0" u="none" dirty="0" err="1">
                <a:solidFill>
                  <a:srgbClr val="0F172A"/>
                </a:solidFill>
                <a:latin typeface="Plus Jakarta Sans"/>
              </a:rPr>
              <a:t>Total_Plastic_Waste_MT</a:t>
            </a:r>
            <a:endParaRPr lang="id-ID" sz="850" b="1" i="0" u="none" dirty="0">
              <a:solidFill>
                <a:srgbClr val="0F172A"/>
              </a:solidFill>
              <a:latin typeface="Plus Jakarta Sans"/>
            </a:endParaRPr>
          </a:p>
          <a:p>
            <a:pPr>
              <a:spcBef>
                <a:spcPts val="300"/>
              </a:spcBef>
            </a:pPr>
            <a:r>
              <a:rPr lang="id-ID" sz="700" b="1" i="0" u="none" dirty="0">
                <a:solidFill>
                  <a:srgbClr val="0F172A"/>
                </a:solidFill>
                <a:latin typeface="Plus Jakarta Sans"/>
              </a:rPr>
              <a:t>(</a:t>
            </a:r>
            <a:r>
              <a:rPr lang="en-US" sz="700" b="1" dirty="0"/>
              <a:t>Total </a:t>
            </a:r>
            <a:r>
              <a:rPr lang="en-US" sz="700" b="1" dirty="0" err="1"/>
              <a:t>jumlah</a:t>
            </a:r>
            <a:r>
              <a:rPr lang="en-US" sz="700" b="1" dirty="0"/>
              <a:t> </a:t>
            </a:r>
            <a:r>
              <a:rPr lang="en-US" sz="700" b="1" dirty="0" err="1"/>
              <a:t>sampah</a:t>
            </a:r>
            <a:r>
              <a:rPr lang="en-US" sz="700" b="1" dirty="0"/>
              <a:t> </a:t>
            </a:r>
            <a:r>
              <a:rPr lang="en-US" sz="700" b="1" dirty="0" err="1"/>
              <a:t>plastik</a:t>
            </a:r>
            <a:r>
              <a:rPr lang="en-US" sz="700" b="1" dirty="0"/>
              <a:t> </a:t>
            </a:r>
            <a:r>
              <a:rPr lang="en-US" sz="700" b="1" dirty="0" err="1"/>
              <a:t>dalam</a:t>
            </a:r>
            <a:r>
              <a:rPr lang="en-US" sz="700" b="1" dirty="0"/>
              <a:t> </a:t>
            </a:r>
            <a:r>
              <a:rPr lang="en-US" sz="700" b="1" dirty="0" err="1"/>
              <a:t>satuan</a:t>
            </a:r>
            <a:r>
              <a:rPr lang="en-US" sz="700" b="1" dirty="0"/>
              <a:t> </a:t>
            </a:r>
            <a:r>
              <a:rPr lang="en-US" sz="700" b="1" dirty="0" err="1"/>
              <a:t>metrik</a:t>
            </a:r>
            <a:r>
              <a:rPr lang="en-US" sz="700" b="1" dirty="0"/>
              <a:t> ton</a:t>
            </a:r>
            <a:r>
              <a:rPr lang="id-ID" sz="700" b="1" dirty="0"/>
              <a:t>)</a:t>
            </a:r>
            <a:endParaRPr lang="id-ID" sz="700" b="1" i="0" u="none" dirty="0">
              <a:solidFill>
                <a:srgbClr val="0F172A"/>
              </a:solidFill>
              <a:latin typeface="Plus Jakarta Sans"/>
            </a:endParaRPr>
          </a:p>
          <a:p>
            <a:pPr algn="l">
              <a:spcBef>
                <a:spcPts val="200"/>
              </a:spcBef>
            </a:pPr>
            <a:r>
              <a:rPr lang="id-ID" sz="2000" b="1" i="0" u="none" dirty="0">
                <a:solidFill>
                  <a:srgbClr val="0284C7"/>
                </a:solidFill>
                <a:latin typeface="Plus Jakarta Sans"/>
              </a:rPr>
              <a:t>0,3225</a:t>
            </a:r>
          </a:p>
        </p:txBody>
      </p:sp>
      <p:sp>
        <p:nvSpPr>
          <p:cNvPr id="43" name="Keterangan Kanan 2"/>
          <p:cNvSpPr/>
          <p:nvPr/>
        </p:nvSpPr>
        <p:spPr>
          <a:xfrm>
            <a:off x="10100000" y="2884528"/>
            <a:ext cx="1800000" cy="1317563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76200" tIns="45720" rIns="76200" bIns="45720" rtlCol="0" anchor="ctr"/>
          <a:lstStyle/>
          <a:p>
            <a:pPr algn="l">
              <a:spcBef>
                <a:spcPts val="0"/>
              </a:spcBef>
            </a:pPr>
            <a:r>
              <a:rPr lang="id-ID" sz="900" b="1" i="0" u="none" dirty="0">
                <a:solidFill>
                  <a:srgbClr val="0284C7"/>
                </a:solidFill>
                <a:latin typeface="Plus Jakarta Sans"/>
              </a:rPr>
              <a:t>PERINGKAT 2</a:t>
            </a:r>
          </a:p>
          <a:p>
            <a:pPr algn="l">
              <a:spcBef>
                <a:spcPts val="300"/>
              </a:spcBef>
            </a:pPr>
            <a:r>
              <a:rPr lang="id-ID" sz="850" b="1" i="0" u="none" dirty="0" err="1">
                <a:solidFill>
                  <a:srgbClr val="0F172A"/>
                </a:solidFill>
                <a:latin typeface="Plus Jakarta Sans"/>
              </a:rPr>
              <a:t>Recycling_Rate</a:t>
            </a:r>
            <a:endParaRPr lang="id-ID" sz="850" b="1" i="0" u="none" dirty="0">
              <a:solidFill>
                <a:srgbClr val="0F172A"/>
              </a:solidFill>
              <a:latin typeface="Plus Jakarta Sans"/>
            </a:endParaRPr>
          </a:p>
          <a:p>
            <a:pPr>
              <a:spcBef>
                <a:spcPts val="300"/>
              </a:spcBef>
            </a:pPr>
            <a:r>
              <a:rPr lang="id-ID" sz="700" b="1" i="0" u="none" dirty="0">
                <a:solidFill>
                  <a:srgbClr val="0F172A"/>
                </a:solidFill>
                <a:latin typeface="Plus Jakarta Sans"/>
              </a:rPr>
              <a:t>(</a:t>
            </a:r>
            <a:r>
              <a:rPr lang="en-US" sz="700" b="1" dirty="0"/>
              <a:t>Tingkat </a:t>
            </a:r>
            <a:r>
              <a:rPr lang="en-US" sz="700" b="1" dirty="0" err="1"/>
              <a:t>atau</a:t>
            </a:r>
            <a:r>
              <a:rPr lang="en-US" sz="700" b="1" dirty="0"/>
              <a:t> </a:t>
            </a:r>
            <a:r>
              <a:rPr lang="en-US" sz="700" b="1" dirty="0" err="1"/>
              <a:t>persentase</a:t>
            </a:r>
            <a:r>
              <a:rPr lang="en-US" sz="700" b="1" dirty="0"/>
              <a:t> </a:t>
            </a:r>
            <a:r>
              <a:rPr lang="en-US" sz="700" b="1" dirty="0" err="1"/>
              <a:t>daur</a:t>
            </a:r>
            <a:r>
              <a:rPr lang="en-US" sz="700" b="1" dirty="0"/>
              <a:t> </a:t>
            </a:r>
            <a:r>
              <a:rPr lang="en-US" sz="700" b="1" dirty="0" err="1"/>
              <a:t>ulang</a:t>
            </a:r>
            <a:r>
              <a:rPr lang="en-US" sz="700" b="1" dirty="0"/>
              <a:t> </a:t>
            </a:r>
            <a:r>
              <a:rPr lang="en-US" sz="700" b="1" dirty="0" err="1"/>
              <a:t>sampah</a:t>
            </a:r>
            <a:r>
              <a:rPr lang="id-ID" sz="700" b="1" dirty="0"/>
              <a:t>)</a:t>
            </a:r>
            <a:endParaRPr lang="id-ID" sz="700" b="1" i="0" u="none" dirty="0">
              <a:solidFill>
                <a:srgbClr val="0F172A"/>
              </a:solidFill>
              <a:latin typeface="Plus Jakarta Sans"/>
            </a:endParaRPr>
          </a:p>
          <a:p>
            <a:pPr algn="l">
              <a:spcBef>
                <a:spcPts val="200"/>
              </a:spcBef>
            </a:pPr>
            <a:r>
              <a:rPr lang="id-ID" sz="2000" b="1" i="0" u="none" dirty="0">
                <a:solidFill>
                  <a:srgbClr val="0284C7"/>
                </a:solidFill>
                <a:latin typeface="Plus Jakarta Sans"/>
              </a:rPr>
              <a:t>0,3140</a:t>
            </a:r>
          </a:p>
        </p:txBody>
      </p:sp>
      <p:sp>
        <p:nvSpPr>
          <p:cNvPr id="44" name="Keterangan Kanan 3"/>
          <p:cNvSpPr/>
          <p:nvPr/>
        </p:nvSpPr>
        <p:spPr>
          <a:xfrm>
            <a:off x="10100000" y="4342091"/>
            <a:ext cx="1800000" cy="1317563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76200" tIns="45720" rIns="76200" bIns="45720" rtlCol="0" anchor="ctr"/>
          <a:lstStyle/>
          <a:p>
            <a:pPr algn="l">
              <a:spcBef>
                <a:spcPts val="0"/>
              </a:spcBef>
            </a:pPr>
            <a:r>
              <a:rPr lang="id-ID" sz="900" b="1" i="0" u="none" dirty="0">
                <a:solidFill>
                  <a:srgbClr val="0284C7"/>
                </a:solidFill>
                <a:latin typeface="Plus Jakarta Sans"/>
              </a:rPr>
              <a:t>PERINGKAT 3</a:t>
            </a:r>
          </a:p>
          <a:p>
            <a:pPr algn="l">
              <a:spcBef>
                <a:spcPts val="300"/>
              </a:spcBef>
            </a:pPr>
            <a:r>
              <a:rPr lang="id-ID" sz="850" b="1" i="0" u="none" dirty="0" err="1">
                <a:solidFill>
                  <a:srgbClr val="0F172A"/>
                </a:solidFill>
                <a:latin typeface="Plus Jakarta Sans"/>
              </a:rPr>
              <a:t>Per_Capita_Waste_KG</a:t>
            </a:r>
            <a:endParaRPr lang="id-ID" sz="850" b="1" i="0" u="none" dirty="0">
              <a:solidFill>
                <a:srgbClr val="0F172A"/>
              </a:solidFill>
              <a:latin typeface="Plus Jakarta Sans"/>
            </a:endParaRPr>
          </a:p>
          <a:p>
            <a:pPr>
              <a:spcBef>
                <a:spcPts val="300"/>
              </a:spcBef>
            </a:pPr>
            <a:r>
              <a:rPr lang="id-ID" sz="700" b="1" i="0" u="none" dirty="0">
                <a:solidFill>
                  <a:srgbClr val="0F172A"/>
                </a:solidFill>
                <a:latin typeface="Plus Jakarta Sans"/>
              </a:rPr>
              <a:t>(</a:t>
            </a:r>
            <a:r>
              <a:rPr lang="en-US" sz="700" b="1" dirty="0" err="1"/>
              <a:t>Jumlah</a:t>
            </a:r>
            <a:r>
              <a:rPr lang="en-US" sz="700" b="1" dirty="0"/>
              <a:t> </a:t>
            </a:r>
            <a:r>
              <a:rPr lang="en-US" sz="700" b="1" dirty="0" err="1"/>
              <a:t>sampah</a:t>
            </a:r>
            <a:r>
              <a:rPr lang="en-US" sz="700" b="1" dirty="0"/>
              <a:t> per </a:t>
            </a:r>
            <a:r>
              <a:rPr lang="en-US" sz="700" b="1" dirty="0" err="1"/>
              <a:t>kapita</a:t>
            </a:r>
            <a:r>
              <a:rPr lang="en-US" sz="700" b="1" dirty="0"/>
              <a:t>, </a:t>
            </a:r>
            <a:r>
              <a:rPr lang="en-US" sz="700" b="1" dirty="0" err="1"/>
              <a:t>yaitu</a:t>
            </a:r>
            <a:r>
              <a:rPr lang="en-US" sz="700" b="1" dirty="0"/>
              <a:t> </a:t>
            </a:r>
            <a:r>
              <a:rPr lang="en-US" sz="700" b="1" dirty="0" err="1"/>
              <a:t>jumlah</a:t>
            </a:r>
            <a:r>
              <a:rPr lang="en-US" sz="700" b="1" dirty="0"/>
              <a:t> </a:t>
            </a:r>
            <a:r>
              <a:rPr lang="en-US" sz="700" b="1" dirty="0" err="1"/>
              <a:t>sampah</a:t>
            </a:r>
            <a:r>
              <a:rPr lang="en-US" sz="700" b="1" dirty="0"/>
              <a:t> per orang </a:t>
            </a:r>
            <a:r>
              <a:rPr lang="en-US" sz="700" b="1" dirty="0" err="1"/>
              <a:t>dalam</a:t>
            </a:r>
            <a:r>
              <a:rPr lang="en-US" sz="700" b="1" dirty="0"/>
              <a:t> </a:t>
            </a:r>
            <a:r>
              <a:rPr lang="en-US" sz="700" b="1" dirty="0" err="1"/>
              <a:t>satuan</a:t>
            </a:r>
            <a:r>
              <a:rPr lang="en-US" sz="700" b="1" dirty="0"/>
              <a:t> kilogram</a:t>
            </a:r>
            <a:r>
              <a:rPr lang="id-ID" sz="700" b="1" dirty="0"/>
              <a:t>)</a:t>
            </a:r>
            <a:endParaRPr lang="id-ID" sz="700" b="1" i="0" u="none" dirty="0">
              <a:solidFill>
                <a:srgbClr val="0F172A"/>
              </a:solidFill>
              <a:latin typeface="Plus Jakarta Sans"/>
            </a:endParaRPr>
          </a:p>
          <a:p>
            <a:pPr algn="l">
              <a:spcBef>
                <a:spcPts val="200"/>
              </a:spcBef>
            </a:pPr>
            <a:r>
              <a:rPr lang="id-ID" sz="2000" b="1" i="0" u="none" dirty="0">
                <a:solidFill>
                  <a:srgbClr val="0284C7"/>
                </a:solidFill>
                <a:latin typeface="Plus Jakarta Sans"/>
              </a:rPr>
              <a:t>0,2556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27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29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31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33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35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7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9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1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3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5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602110"/>
            <a:ext cx="5391150" cy="1171575"/>
          </a:xfrm>
          <a:prstGeom prst="roundRect">
            <a:avLst>
              <a:gd name="adj" fmla="val 13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602110"/>
            <a:ext cx="5391150" cy="1171575"/>
          </a:xfrm>
          <a:prstGeom prst="roundRect">
            <a:avLst>
              <a:gd name="adj" fmla="val 1300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26085"/>
            <a:ext cx="5391150" cy="1171575"/>
          </a:xfrm>
          <a:prstGeom prst="roundRect">
            <a:avLst>
              <a:gd name="adj" fmla="val 13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926085"/>
            <a:ext cx="5391150" cy="1171575"/>
          </a:xfrm>
          <a:prstGeom prst="roundRect">
            <a:avLst>
              <a:gd name="adj" fmla="val 13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764160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602110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602110"/>
            <a:ext cx="57150" cy="1171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1225" y="2602110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0" y="3764160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0" y="2602110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0" y="2602110"/>
            <a:ext cx="57150" cy="11715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72875" y="2602110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5088135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3926085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3926085"/>
            <a:ext cx="57150" cy="1171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91225" y="3926085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1250" y="5088135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0" y="3926085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1250" y="3926085"/>
            <a:ext cx="57150" cy="1171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3926085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9600" y="704850"/>
            <a:ext cx="2484976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Kesimpulan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2878335"/>
            <a:ext cx="628828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Klasifikasi Berhasil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450" y="3135510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Dataset 161 baris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berhasil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dikelompokkan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ke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tingkat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risiko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Low, Medium, dan High.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2878335"/>
            <a:ext cx="200195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4532D"/>
                </a:solidFill>
                <a:latin typeface="Plus Jakarta Sans"/>
              </a:rPr>
              <a:t>2. Performa Random Forest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3135510"/>
            <a:ext cx="488632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Random Forest </a:t>
            </a:r>
            <a:r>
              <a:rPr sz="1125" dirty="0" err="1">
                <a:solidFill>
                  <a:srgbClr val="166534"/>
                </a:solidFill>
                <a:latin typeface="Plus Jakarta Sans"/>
              </a:rPr>
              <a:t>memperoleh</a:t>
            </a:r>
            <a:r>
              <a:rPr sz="1125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dirty="0" err="1">
                <a:solidFill>
                  <a:srgbClr val="166534"/>
                </a:solidFill>
                <a:latin typeface="Plus Jakarta Sans"/>
              </a:rPr>
              <a:t>akurasi</a:t>
            </a:r>
            <a:r>
              <a:rPr sz="1125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dirty="0" err="1">
                <a:solidFill>
                  <a:srgbClr val="166534"/>
                </a:solidFill>
                <a:latin typeface="Plus Jakarta Sans"/>
              </a:rPr>
              <a:t>lebih</a:t>
            </a:r>
            <a:r>
              <a:rPr sz="1125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dirty="0" err="1">
                <a:solidFill>
                  <a:srgbClr val="166534"/>
                </a:solidFill>
                <a:latin typeface="Plus Jakarta Sans"/>
              </a:rPr>
              <a:t>tinggi</a:t>
            </a:r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66534"/>
                </a:solidFill>
                <a:latin typeface="Plus Jakarta Sans"/>
              </a:rPr>
              <a:t>yaitu</a:t>
            </a:r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b="1" i="0" u="none" dirty="0">
                <a:solidFill>
                  <a:srgbClr val="166534"/>
                </a:solidFill>
                <a:latin typeface="Plus Jakarta Sans"/>
              </a:rPr>
              <a:t>66,67%</a:t>
            </a:r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66534"/>
                </a:solidFill>
                <a:latin typeface="Plus Jakarta Sans"/>
              </a:rPr>
              <a:t>dibanding</a:t>
            </a:r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 Logistic Regression (</a:t>
            </a:r>
            <a:r>
              <a:rPr sz="1125" b="1" i="0" u="none" dirty="0">
                <a:solidFill>
                  <a:srgbClr val="166534"/>
                </a:solidFill>
                <a:latin typeface="Plus Jakarta Sans"/>
              </a:rPr>
              <a:t>54,55%</a:t>
            </a:r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450" y="4202310"/>
            <a:ext cx="158562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3. Feature Importance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" y="4459485"/>
            <a:ext cx="4886325" cy="347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id-ID" sz="1125" b="0" i="0" u="none" dirty="0">
                <a:solidFill>
                  <a:srgbClr val="475569"/>
                </a:solidFill>
                <a:latin typeface="Plus Jakarta Sans"/>
              </a:rPr>
              <a:t>Total_Plastic_Waste_MT, Recycling_Rate, dan Per_Capita_Waste_KG menjadi tiga fitur paling berpengaruh (sekitar 89% kontribusi).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4202310"/>
            <a:ext cx="210000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4. Saran Pengembangan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6515100" y="4459485"/>
            <a:ext cx="4886325" cy="3477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walaupun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Random Forest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memberikan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hasil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yang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lebih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baik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akurasinya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masih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bisa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ditingkatkan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lagi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Jadi,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depannya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kita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bisa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menambah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jumlah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data dan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menyesuaikan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parameter model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supaya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hasil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prediksinya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lebih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baik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id-ID" sz="1100" b="0" i="0" u="none" dirty="0">
              <a:solidFill>
                <a:schemeClr val="tx1">
                  <a:lumMod val="50000"/>
                  <a:lumOff val="50000"/>
                </a:schemeClr>
              </a:solidFill>
              <a:latin typeface="Plus Jakarta Sans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93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95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97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99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101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3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5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7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9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11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1" name="Dekorasi Laut Cahaya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4" name="Dekorasi Laut Ubur-ubur" descr="Dekorasi laut"/>
          <p:cNvPicPr>
            <a:picLocks noSelect="1"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000" y="1200000"/>
            <a:ext cx="520000" cy="924444"/>
          </a:xfrm>
          <a:prstGeom prst="rect">
            <a:avLst/>
          </a:prstGeom>
        </p:spPr>
      </p:pic>
      <p:pic>
        <p:nvPicPr>
          <p:cNvPr id="915" name="Dekorasi Laut Ubur-ubur 2" descr="Dekorasi laut"/>
          <p:cNvPicPr>
            <a:picLocks noSelect="1"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72000" y="1800000"/>
            <a:ext cx="390000" cy="6933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0" y="4476750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5962" y="2352675"/>
            <a:ext cx="600075" cy="53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8195" y="3114675"/>
            <a:ext cx="4875609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4281" y="3933825"/>
            <a:ext cx="46434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Ada Pertanyaan atau Diskusi?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18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20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22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24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26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28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0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2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4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6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5 L 0 0 E" pathEditMode="relative">
                                      <p:cBhvr>
                                        <p:cTn id="38" dur="700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0.05 L 0 0 E" pathEditMode="relative">
                                      <p:cBhvr>
                                        <p:cTn id="40" dur="850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877</Words>
  <Application>Microsoft Office PowerPoint</Application>
  <PresentationFormat>Widescreen</PresentationFormat>
  <Paragraphs>162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Plus Jakarta Sans</vt:lpstr>
      <vt:lpstr>Arial</vt:lpstr>
      <vt:lpstr>Calibri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purnama kilat</cp:lastModifiedBy>
  <cp:revision>3</cp:revision>
  <dcterms:created xsi:type="dcterms:W3CDTF">2013-01-27T09:14:16Z</dcterms:created>
  <dcterms:modified xsi:type="dcterms:W3CDTF">2026-10-12T21:47:21Z</dcterms:modified>
  <cp:category/>
</cp:coreProperties>
</file>